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8915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tmp/claude-0/-home-claude/ecc46686-2f6a-5dc8-9019-00acec075de5/scratchpad/dec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43" y="102824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FOUNDATIONS ・ TASK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First AI Agent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Task.ipynb 逐步詳細解析　—　從對話代理到具備網路搜尋能力的 RecipeBot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4617720"/>
            <a:ext cx="1638605" cy="402336"/>
          </a:xfrm>
          <a:prstGeom prst="roundRect">
            <a:avLst>
              <a:gd name="adj" fmla="val 50000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61772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43277" y="4617720"/>
            <a:ext cx="2823667" cy="402336"/>
          </a:xfrm>
          <a:prstGeom prst="roundRect">
            <a:avLst>
              <a:gd name="adj" fmla="val 50000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43277" y="4617720"/>
            <a:ext cx="28236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・ Nova Lite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31536" y="4617720"/>
            <a:ext cx="2428646" cy="402336"/>
          </a:xfrm>
          <a:prstGeom prst="roundRect">
            <a:avLst>
              <a:gd name="adj" fmla="val 50000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1536" y="4617720"/>
            <a:ext cx="24286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Tool Selection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24774" y="4617720"/>
            <a:ext cx="947318" cy="402336"/>
          </a:xfrm>
          <a:prstGeom prst="roundRect">
            <a:avLst>
              <a:gd name="adj" fmla="val 50000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4774" y="4617720"/>
            <a:ext cx="9473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36685" y="4617720"/>
            <a:ext cx="1441094" cy="402336"/>
          </a:xfrm>
          <a:prstGeom prst="roundRect">
            <a:avLst>
              <a:gd name="adj" fmla="val 50000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36685" y="4617720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742371" y="4617720"/>
            <a:ext cx="1243584" cy="402336"/>
          </a:xfrm>
          <a:prstGeom prst="roundRect">
            <a:avLst>
              <a:gd name="adj" fmla="val 50000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42371" y="4617720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Lab　|　資元科技顧問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整體目的・總覽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從對話代理，走向會做事的 AI 代理程式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本筆記本用 Strands Agents 框架 + Amazon Bedrock（Nova Lite 模型），示範代理程式如何從單純問答，逐步進化為能「思考、選工具、採取行動」的實用助理。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6" name="Shape 4"/>
          <p:cNvSpPr/>
          <p:nvPr/>
        </p:nvSpPr>
        <p:spPr>
          <a:xfrm>
            <a:off x="1380744" y="257860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tmp/claude-0/-home-claude/ecc46686-2f6a-5dc8-9019-00acec075de5/scratchpad/deck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729" y="2685593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32888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建立對話代理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41148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用最少程式碼建立可對話的 Agent，理解模型與系統提示詞的基本組成。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36976" y="233172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12" name="Shape 9"/>
          <p:cNvSpPr/>
          <p:nvPr/>
        </p:nvSpPr>
        <p:spPr>
          <a:xfrm>
            <a:off x="4069080" y="2578608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tmp/claude-0/-home-claude/ecc46686-2f6a-5dc8-9019-00acec075de5/scratchpad/deck/icons/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065" y="2685593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21224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19856" y="3566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加入工具與決策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465576" y="41148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掛載內建與自訂工具，觀察代理程式如何自動判斷該用哪個工具、或直接呼叫工具。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25312" y="233172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18" name="Shape 14"/>
          <p:cNvSpPr/>
          <p:nvPr/>
        </p:nvSpPr>
        <p:spPr>
          <a:xfrm>
            <a:off x="6757416" y="257860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tmp/claude-0/-home-claude/ecc46686-2f6a-5dc8-9019-00acec075de5/scratchpad/deck/icons/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401" y="2685593"/>
            <a:ext cx="608990" cy="6089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095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108192" y="3566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觀察與調參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153912" y="41148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Logging 看懂內部運作，並透過 temperature 等參數控制回應風格。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613648" y="233172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24" name="Shape 19"/>
          <p:cNvSpPr/>
          <p:nvPr/>
        </p:nvSpPr>
        <p:spPr>
          <a:xfrm>
            <a:off x="9445752" y="2578608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3" descr="/tmp/claude-0/-home-claude/ecc46686-2f6a-5dc8-9019-00acec075de5/scratchpad/deck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737" y="2685593"/>
            <a:ext cx="608990" cy="6089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97896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796528" y="3566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整合真實案例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8842248" y="411480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串接網路搜尋工具，打造能上網查資料的 RecipeBot 食譜助理。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學習路徑總覽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六個任務，一條從基礎到實戰的路徑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35024" y="3337560"/>
            <a:ext cx="9518904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00684" y="27660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tmp/claude-0/-home-claude/ecc46686-2f6a-5dc8-9019-00acec075de5/scratchpad/deck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12" y="287898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環境設定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804465" y="276606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tmp/claude-0/-home-claude/ecc46686-2f6a-5dc8-9019-00acec075de5/scratchpad/deck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393" y="2878988"/>
            <a:ext cx="642823" cy="6428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52421" y="3977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52421" y="4251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建立代理程式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708246" y="27660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tmp/claude-0/-home-claude/ecc46686-2f6a-5dc8-9019-00acec075de5/scratchpad/deck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74" y="2878988"/>
            <a:ext cx="642823" cy="6428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56202" y="3977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356202" y="4251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新增工具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612026" y="276606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tmp/claude-0/-home-claude/ecc46686-2f6a-5dc8-9019-00acec075de5/scratchpad/deck/icons/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955" y="2878988"/>
            <a:ext cx="642823" cy="64282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9982" y="3977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59982" y="4251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515807" y="27660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tmp/claude-0/-home-claude/ecc46686-2f6a-5dc8-9019-00acec075de5/scratchpad/deck/icons/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736" y="2878988"/>
            <a:ext cx="642823" cy="64282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63763" y="3977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163763" y="4251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模型組態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10419588" y="276606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6" name="Image 5" descr="/tmp/claude-0/-home-claude/ecc46686-2f6a-5dc8-9019-00acec075de5/scratchpad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2516" y="2878988"/>
            <a:ext cx="642823" cy="64282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67544" y="3977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0067544" y="4251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RecipeBot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每一步都建立在前一步之上：先有能對話的代理程式，才有加工具的意義；先看得懂內部運作（Logging），調參才有依據；最後把工具能力用在真實案例（網路搜尋食譜）上，完整走完一次代理程式開發流程。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環境設定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020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　</a:t>
            </a:r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安裝建立 AI 代理程式所需的基礎套件，作為整份筆記本的地基。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263640" cy="1371600"/>
          </a:xfrm>
          <a:prstGeom prst="roundRect">
            <a:avLst>
              <a:gd name="adj" fmla="val 5333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624328"/>
            <a:ext cx="57515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the Strands Agents framework and tools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F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%pip install strands-agents strands-agents-tools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4231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strands-agents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核心框架，提供 Agent、@tool 等類別／裝飾器。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86600" y="33375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strands-agents-tools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官方現成工具集合，例如稍後用到的 calculator。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3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0624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這一步是整個筆記本的地基：之後所有 from strands import ... 的程式碼，都仰賴這裡安裝好的套件。實際教學環境中通常已預先安裝，因此程式碼被註解掉，避免重複安裝耗費時間。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建立你的第一個 AI 代理程式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020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　</a:t>
            </a:r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用最少的程式碼建立能對話的代理程式，理解 Agent 物件的基本組成。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806440" cy="3291840"/>
          </a:xfrm>
          <a:prstGeom prst="roundRect">
            <a:avLst>
              <a:gd name="adj" fmla="val 2222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578608"/>
            <a:ext cx="529437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callback_handler=None,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model="amazon.nova-lite-v1:0",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a helpful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assistant..."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agent("Hello! Tell me a joke.")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2377440"/>
            <a:ext cx="5010912" cy="749808"/>
          </a:xfrm>
          <a:prstGeom prst="roundRect">
            <a:avLst>
              <a:gd name="adj" fmla="val 9756"/>
            </a:avLst>
          </a:prstGeom>
          <a:solidFill>
            <a:srgbClr val="F3F8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3774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callback_handler=None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關閉逐字串流輸出，讓結果一次性回傳，方便閱讀。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3246120"/>
            <a:ext cx="5010912" cy="749808"/>
          </a:xfrm>
          <a:prstGeom prst="roundRect">
            <a:avLst>
              <a:gd name="adj" fmla="val 9756"/>
            </a:avLst>
          </a:prstGeom>
          <a:solidFill>
            <a:srgbClr val="F3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32461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model="amazon.nova-lite-v1:0"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指定底層 LLM 為 Bedrock 的 Nova Lite —— 輕量、低延遲，適合示範。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4114800"/>
            <a:ext cx="5010912" cy="749808"/>
          </a:xfrm>
          <a:prstGeom prst="roundRect">
            <a:avLst>
              <a:gd name="adj" fmla="val 9756"/>
            </a:avLst>
          </a:prstGeom>
          <a:solidFill>
            <a:srgbClr val="F3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1148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定義代理程式的人設與行為準則：一個「提供簡潔回應」的助理。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4983480"/>
            <a:ext cx="5010912" cy="749808"/>
          </a:xfrm>
          <a:prstGeom prst="roundRect">
            <a:avLst>
              <a:gd name="adj" fmla="val 9756"/>
            </a:avLst>
          </a:prstGeom>
          <a:solidFill>
            <a:srgbClr val="F3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49834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agent(...)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Agent 當成可呼叫物件，驗證「模型 + 系統提示詞」已能正常對話。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為代理程式新增工具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020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　</a:t>
            </a:r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讓代理程式從「只能聊天」進化成「能實際採取行動」。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F8F8"/>
          </a:solidFill>
          <a:ln/>
        </p:spPr>
      </p:sp>
      <p:sp>
        <p:nvSpPr>
          <p:cNvPr id="8" name="Shape 6"/>
          <p:cNvSpPr/>
          <p:nvPr/>
        </p:nvSpPr>
        <p:spPr>
          <a:xfrm>
            <a:off x="845820" y="25831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tmp/claude-0/-home-claude/ecc46686-2f6a-5dc8-9019-00acec075de5/scratchpad/deck/icons/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861" y="268422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calculator（內建工具）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4206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直接從 strands_tools 匯入的現成工具，不需自己實作，開箱即用。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F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49140" y="25831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/tmp/claude-0/-home-claude/ecc46686-2f6a-5dc8-9019-00acec075de5/scratchpad/deck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181" y="2684221"/>
            <a:ext cx="575158" cy="5751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weather（@tool 自訂）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480560" y="4206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@tool 裝飾器把普通函式註冊成工具；docstring 會被當作工具說明給模型參考。此處為示範，固定回傳「Sunny」。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F8F8"/>
          </a:solidFill>
          <a:ln/>
        </p:spPr>
      </p:sp>
      <p:sp>
        <p:nvSpPr>
          <p:cNvPr id="18" name="Shape 14"/>
          <p:cNvSpPr/>
          <p:nvPr/>
        </p:nvSpPr>
        <p:spPr>
          <a:xfrm>
            <a:off x="8252460" y="258318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2" descr="/tmp/claude-0/-home-claude/ecc46686-2f6a-5dc8-9019-00acec075de5/scratchpad/deck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501" y="2684221"/>
            <a:ext cx="575158" cy="5751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83880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多步驟工具鏈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183880" y="4206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「西雅圖溫度是幾華氏？」刻意需要先呼叫 weather 拿攝氏度，再用 calculator 換算——展示代理程式自主規劃步驟的能力。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工具選擇邏輯，與直接呼叫工具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3F8F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tmp/claude-0/-home-claude/ecc46686-2f6a-5dc8-9019-00acec075de5/scratchpad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" y="209489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自動工具選擇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88036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78992" y="3081528"/>
            <a:ext cx="4379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math_query = "What is 25*4+18?"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agent_with_tools(math_query)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提出純數學問題，代理程式會自行判斷「只需要 calculator，不需要 weather」——展示模型的工具選擇邏輯，而非每次呼叫全部工具。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73736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3F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656832" y="20116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4" name="Image 1" descr="/tmp/claude-0/-home-claude/ecc46686-2f6a-5dc8-9019-00acec075de5/scratchpad/deck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042" y="209489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79792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直接呼叫工具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473952" y="288036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29984" y="3081528"/>
            <a:ext cx="4379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agent_with_tools.tool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.calculator(expression="2+3*4")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73952" y="397764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agent.tool.&lt;工具名稱&gt;() 語法，略過模型的自然語言判斷，直接呼叫底層工具函式。適用於除錯、單元測試，或已明確知道要用哪個工具時，節省一次模型推論。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設定記錄（Logging）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020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　</a:t>
            </a:r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打開「黑盒子」，觀察代理程式背後的決策與呼叫過程，方便除錯與理解。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806440" cy="3291840"/>
          </a:xfrm>
          <a:prstGeom prst="roundRect">
            <a:avLst>
              <a:gd name="adj" fmla="val 2222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578608"/>
            <a:ext cx="529437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logging.getLogger("strands").setLevel(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logging.INFO)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format="%(asctime)s | %(levelname)s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%(name)s | %(message)s",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level=logging.INFO,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handlers=[logging.StreamHandler()]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setLevel(logging.INFO)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把框架內部日誌層級調高，讓模型呼叫、工具觸發等訊息也會顯示。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basicConfig(...)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設定輸出格式（時間戳記／層級／名稱／訊息）與輸出位置（主控台）。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logger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在建立代理程式前後手動標記，對照你的程式碼執行點與框架日誌。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純觀測工具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不影響代理程式行為，是正式環境排查問題的重要手段。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探索模型組態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020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　</a:t>
            </a:r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學習如何客製化底層模型參數，而不只用預設設定，藉此控制回應風格。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806440" cy="3291840"/>
          </a:xfrm>
          <a:prstGeom prst="roundRect">
            <a:avLst>
              <a:gd name="adj" fmla="val 2222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578608"/>
            <a:ext cx="529437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strands.models import BedrockModel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custom_model = BedrockModel(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model_id="amazon.nova-lite-v1:0",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temperature=0.3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custom_agent = Agent(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callback_handler=None,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model=custom_model)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237744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F3F8F8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溫度參數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3246120"/>
            <a:ext cx="4389120" cy="146304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3246120"/>
            <a:ext cx="1316736" cy="14630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8147304" y="3200400"/>
            <a:ext cx="237744" cy="237744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520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0.0（一致 / 保守）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0" y="3520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1.0（創意 / 多樣）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目前設定：</a:t>
            </a:r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4434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數值越低，回應越一致、越可預測；數值越高，回應越有創意、越多樣但較不穩定。此處選擇偏低的 0.3，代表希望代理程式回答較穩定一致。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也展示了 Strands 的彈性：模型可以用字串快速指定，也可以用 BedrockModel 物件精細調參。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建立食譜助理代理程式（RecipeBot）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020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　</a:t>
            </a:r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整合前面所學，打造具備真實應用價值的實例——會上網查資料的食譜助理。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6035040" cy="3337560"/>
          </a:xfrm>
          <a:prstGeom prst="roundRect">
            <a:avLst>
              <a:gd name="adj" fmla="val 2192"/>
            </a:avLst>
          </a:prstGeom>
          <a:solidFill>
            <a:srgbClr val="0F2C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578608"/>
            <a:ext cx="55229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%pip install ddgs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websearch(keywords: str,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max_results: int = 3) -&gt; str: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= DDGS().text(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keywords, max_results)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results or "No results"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f"Search error: {e}"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37744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搜尋套件，讓代理程式能「連上網路」查資料。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型別提示與 docstring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keywords/max_results 與 Args/Returns 說明，讓模型理解如何呼叫此工具。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捕捉搜尋例外並轉成易讀錯誤訊息，避免代理程式因搜尋失敗而中斷。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✦"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角色化 system_prompt　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賦予「RecipeBot」身份，並明確指示使用 websearch，避免資訊過時或編造。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3F8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 RecipeBot：完整案例展示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6" name="Shape 4"/>
          <p:cNvSpPr/>
          <p:nvPr/>
        </p:nvSpPr>
        <p:spPr>
          <a:xfrm>
            <a:off x="1403604" y="23088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tmp/claude-0/-home-claude/ecc46686-2f6a-5dc8-9019-00acec075de5/scratchpad/deck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645" y="240990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2004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使用者提問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"Suggest a simple recipe with chicken and broccoli."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3054096" y="3337560"/>
            <a:ext cx="164592" cy="164592"/>
          </a:xfrm>
          <a:prstGeom prst="triangle">
            <a:avLst/>
          </a:prstGeom>
          <a:solidFill>
            <a:srgbClr val="5B7C85"/>
          </a:solidFill>
          <a:ln/>
        </p:spPr>
      </p:sp>
      <p:sp>
        <p:nvSpPr>
          <p:cNvPr id="11" name="Shape 8"/>
          <p:cNvSpPr/>
          <p:nvPr/>
        </p:nvSpPr>
        <p:spPr>
          <a:xfrm>
            <a:off x="3236976" y="210312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12" name="Shape 9"/>
          <p:cNvSpPr/>
          <p:nvPr/>
        </p:nvSpPr>
        <p:spPr>
          <a:xfrm>
            <a:off x="4091940" y="23088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tmp/claude-0/-home-claude/ecc46686-2f6a-5dc8-9019-00acec075de5/scratchpad/deck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981" y="2409901"/>
            <a:ext cx="575158" cy="5751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32004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代理程式判斷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19856" y="36576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這需要即時資訊，決定呼叫 websearch 工具。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 rot="5400000">
            <a:off x="5742432" y="3337560"/>
            <a:ext cx="164592" cy="164592"/>
          </a:xfrm>
          <a:prstGeom prst="triangle">
            <a:avLst/>
          </a:prstGeom>
          <a:solidFill>
            <a:srgbClr val="5B7C85"/>
          </a:solidFill>
          <a:ln/>
        </p:spPr>
      </p:sp>
      <p:sp>
        <p:nvSpPr>
          <p:cNvPr id="17" name="Shape 13"/>
          <p:cNvSpPr/>
          <p:nvPr/>
        </p:nvSpPr>
        <p:spPr>
          <a:xfrm>
            <a:off x="5925312" y="210312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18" name="Shape 14"/>
          <p:cNvSpPr/>
          <p:nvPr/>
        </p:nvSpPr>
        <p:spPr>
          <a:xfrm>
            <a:off x="6780276" y="230886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2" descr="/tmp/claude-0/-home-claude/ecc46686-2f6a-5dc8-9019-00acec075de5/scratchpad/dec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317" y="2409901"/>
            <a:ext cx="575158" cy="5751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9904" y="32004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執行網路搜尋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108192" y="36576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DDGS().text(...) 取得相關食譜與烹飪資訊。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 rot="5400000">
            <a:off x="8430768" y="3337560"/>
            <a:ext cx="164592" cy="164592"/>
          </a:xfrm>
          <a:prstGeom prst="triangle">
            <a:avLst/>
          </a:prstGeom>
          <a:solidFill>
            <a:srgbClr val="5B7C85"/>
          </a:solidFill>
          <a:ln/>
        </p:spPr>
      </p:sp>
      <p:sp>
        <p:nvSpPr>
          <p:cNvPr id="23" name="Shape 18"/>
          <p:cNvSpPr/>
          <p:nvPr/>
        </p:nvSpPr>
        <p:spPr>
          <a:xfrm>
            <a:off x="8613648" y="210312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F3F8F8"/>
          </a:solidFill>
          <a:ln/>
        </p:spPr>
      </p:sp>
      <p:sp>
        <p:nvSpPr>
          <p:cNvPr id="24" name="Shape 19"/>
          <p:cNvSpPr/>
          <p:nvPr/>
        </p:nvSpPr>
        <p:spPr>
          <a:xfrm>
            <a:off x="9468612" y="23088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/tmp/claude-0/-home-claude/ecc46686-2f6a-5dc8-9019-00acec075de5/scratchpad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653" y="2409901"/>
            <a:ext cx="575158" cy="5751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78240" y="32004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整合回答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796528" y="36576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統整搜尋結果，生成雞肉花椰菜料理建議。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這是整份筆記本從「玩具範例」走向「實用工具」的完整展示：代理程式不再只靠內建知識回答，而是主動取得即時資訊再作答，避免資訊過時或編造。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流程圖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從環境設定到 RecipeBot 的完整流程</a:t>
            </a:r>
            <a:endParaRPr lang="en-US" sz="3000" dirty="0"/>
          </a:p>
        </p:txBody>
      </p:sp>
      <p:pic>
        <p:nvPicPr>
          <p:cNvPr id="4" name="Image 0" descr="/tmp/claude-0/-home-claude/ecc46686-2f6a-5dc8-9019-00acec075de5/scratchpad/dec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194560"/>
            <a:ext cx="10515600" cy="3505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569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六個任務依序推進，代理程式在「新增工具」階段可自主判斷要用哪個工具、或被直接呼叫，最終整合成一個具備網路搜尋能力的實用代理程式。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結論與延伸練習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你已具備打造實用 AI 代理程式的完整能力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建立最基本的對話代理程式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掛載內建／自訂工具，理解自動選擇與直接呼叫的差異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透過日誌觀察代理程式的內部運作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客製化模型參數（如 temperature）控制回應風格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✔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整合網路搜尋，打造具實際應用價值的代理程式（RecipeBot）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071F2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延伸練習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5146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 system_prompt，打造適用於不同情境的代理程式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為團隊實際需求設計自訂工具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嘗試不同模型組態，觀察對代理程式行為的影響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Lab　|　資元科技顧問　|　Task 2 — Build Your First AI Agent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2026-09-07T20:43:34Z</dcterms:created>
  <dcterms:modified xsi:type="dcterms:W3CDTF">2026-09-07T20:43:34Z</dcterms:modified>
</cp:coreProperties>
</file>